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lab 레트로라이프" charset="1" panose="02000600000000000000"/>
      <p:regular r:id="rId19"/>
    </p:embeddedFont>
    <p:embeddedFont>
      <p:font typeface="TDTD순고딕" charset="1" panose="02000603000000000000"/>
      <p:regular r:id="rId20"/>
    </p:embeddedFont>
    <p:embeddedFont>
      <p:font typeface="Tlab 레트로라이프 Bold" charset="1" panose="02000800000000000000"/>
      <p:regular r:id="rId21"/>
    </p:embeddedFont>
    <p:embeddedFont>
      <p:font typeface="TDTD순고딕 Bold" charset="1" panose="02000803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98341" y="1987966"/>
            <a:ext cx="14891319" cy="409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40"/>
              </a:lnSpc>
            </a:pPr>
            <a:r>
              <a:rPr lang="en-US" sz="11743">
                <a:solidFill>
                  <a:srgbClr val="8CB791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카카오맵</a:t>
            </a:r>
          </a:p>
          <a:p>
            <a:pPr algn="ctr">
              <a:lnSpc>
                <a:spcPts val="16440"/>
              </a:lnSpc>
            </a:pPr>
            <a:r>
              <a:rPr lang="en-US" sz="11743">
                <a:solidFill>
                  <a:srgbClr val="8CB791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(Kakao Map)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29307" y="7170081"/>
            <a:ext cx="9629387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spc="-6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인공지능융합공학부 202404178 강우현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1769396" y="3364876"/>
            <a:ext cx="818710" cy="703579"/>
            <a:chOff x="0" y="0"/>
            <a:chExt cx="812800" cy="698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964837" y="6766932"/>
            <a:ext cx="818710" cy="703579"/>
            <a:chOff x="0" y="0"/>
            <a:chExt cx="812800" cy="698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04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769396" y="4501693"/>
            <a:ext cx="818710" cy="703579"/>
            <a:chOff x="0" y="0"/>
            <a:chExt cx="812800" cy="698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07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975582" y="7905410"/>
            <a:ext cx="818710" cy="703579"/>
            <a:chOff x="0" y="0"/>
            <a:chExt cx="812800" cy="698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05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962256" y="4497080"/>
            <a:ext cx="818710" cy="703579"/>
            <a:chOff x="0" y="0"/>
            <a:chExt cx="812800" cy="698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769396" y="5633897"/>
            <a:ext cx="818710" cy="703579"/>
            <a:chOff x="0" y="0"/>
            <a:chExt cx="812800" cy="698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08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962256" y="5629284"/>
            <a:ext cx="818710" cy="703579"/>
            <a:chOff x="0" y="0"/>
            <a:chExt cx="812800" cy="698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769396" y="6766932"/>
            <a:ext cx="818710" cy="703579"/>
            <a:chOff x="0" y="0"/>
            <a:chExt cx="812800" cy="698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09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711992" y="1412837"/>
            <a:ext cx="3481325" cy="142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9"/>
              </a:lnSpc>
            </a:pPr>
            <a:r>
              <a:rPr lang="en-US" sz="8306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목차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796436" y="4596926"/>
            <a:ext cx="3870726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주요 기능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002623" y="6862165"/>
            <a:ext cx="3870726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작동 방식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796436" y="3460110"/>
            <a:ext cx="3870726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작동 원리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02623" y="4591515"/>
            <a:ext cx="3870726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발전 과정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002623" y="5722921"/>
            <a:ext cx="3870726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그룹별 사용 목적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807181" y="6860569"/>
            <a:ext cx="4049893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AI 확장 방향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013367" y="8000644"/>
            <a:ext cx="3799314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데이터 구성요소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807181" y="5728332"/>
            <a:ext cx="3799314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장단점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5962256" y="3364876"/>
            <a:ext cx="818710" cy="703579"/>
            <a:chOff x="0" y="0"/>
            <a:chExt cx="812800" cy="6985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01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6989297" y="3460110"/>
            <a:ext cx="3870726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카카오맵 개요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1769396" y="7899136"/>
            <a:ext cx="818710" cy="703579"/>
            <a:chOff x="0" y="0"/>
            <a:chExt cx="812800" cy="6985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10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2807181" y="7992773"/>
            <a:ext cx="4049893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시행착오 및 해결방안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041627" y="1388861"/>
            <a:ext cx="734959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카카오맵 개요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22669" y="3362614"/>
            <a:ext cx="15034405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카카오에서 제공하는 위치 기반 지도/검색 서비스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장소 검색, 길찾기, 실시간 교통 정보 제공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웹/앱 모두 이용 가능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카카오톡, 카카오내비, 카카오비즈니스 등 카카오 서비스와 연동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사용자가 많고 접근성이 뛰어남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24232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041627" y="1388861"/>
            <a:ext cx="7898846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발전 과정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02</a:t>
            </a:r>
          </a:p>
        </p:txBody>
      </p:sp>
      <p:sp>
        <p:nvSpPr>
          <p:cNvPr name="AutoShape 21" id="21"/>
          <p:cNvSpPr/>
          <p:nvPr/>
        </p:nvSpPr>
        <p:spPr>
          <a:xfrm>
            <a:off x="980630" y="3841135"/>
            <a:ext cx="16278670" cy="0"/>
          </a:xfrm>
          <a:prstGeom prst="line">
            <a:avLst/>
          </a:prstGeom>
          <a:ln cap="flat" w="19050">
            <a:solidFill>
              <a:srgbClr val="4858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2846729" y="4117276"/>
            <a:ext cx="0" cy="1221211"/>
          </a:xfrm>
          <a:prstGeom prst="line">
            <a:avLst/>
          </a:prstGeom>
          <a:ln cap="flat" w="28575">
            <a:solidFill>
              <a:srgbClr val="48584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429994" y="3409268"/>
            <a:ext cx="2907003" cy="863735"/>
            <a:chOff x="0" y="0"/>
            <a:chExt cx="2350885" cy="698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50885" cy="698500"/>
            </a:xfrm>
            <a:custGeom>
              <a:avLst/>
              <a:gdLst/>
              <a:ahLst/>
              <a:cxnLst/>
              <a:rect r="r" b="b" t="t" l="l"/>
              <a:pathLst>
                <a:path h="698500" w="2350885">
                  <a:moveTo>
                    <a:pt x="2350885" y="349250"/>
                  </a:moveTo>
                  <a:lnTo>
                    <a:pt x="214768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147685" y="0"/>
                  </a:lnTo>
                  <a:lnTo>
                    <a:pt x="2350885" y="349250"/>
                  </a:lnTo>
                  <a:close/>
                </a:path>
              </a:pathLst>
            </a:custGeom>
            <a:solidFill>
              <a:srgbClr val="85B38B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114300" y="-47625"/>
              <a:ext cx="2122285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A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2016년 6월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29994" y="4860104"/>
            <a:ext cx="2903178" cy="1701143"/>
            <a:chOff x="0" y="0"/>
            <a:chExt cx="762847" cy="44699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2847" cy="446997"/>
            </a:xfrm>
            <a:custGeom>
              <a:avLst/>
              <a:gdLst/>
              <a:ahLst/>
              <a:cxnLst/>
              <a:rect r="r" b="b" t="t" l="l"/>
              <a:pathLst>
                <a:path h="446997" w="762847">
                  <a:moveTo>
                    <a:pt x="32000" y="0"/>
                  </a:moveTo>
                  <a:lnTo>
                    <a:pt x="730847" y="0"/>
                  </a:lnTo>
                  <a:cubicBezTo>
                    <a:pt x="739334" y="0"/>
                    <a:pt x="747474" y="3371"/>
                    <a:pt x="753475" y="9373"/>
                  </a:cubicBezTo>
                  <a:cubicBezTo>
                    <a:pt x="759476" y="15374"/>
                    <a:pt x="762847" y="23513"/>
                    <a:pt x="762847" y="32000"/>
                  </a:cubicBezTo>
                  <a:lnTo>
                    <a:pt x="762847" y="414997"/>
                  </a:lnTo>
                  <a:cubicBezTo>
                    <a:pt x="762847" y="432670"/>
                    <a:pt x="748520" y="446997"/>
                    <a:pt x="730847" y="446997"/>
                  </a:cubicBezTo>
                  <a:lnTo>
                    <a:pt x="32000" y="446997"/>
                  </a:lnTo>
                  <a:cubicBezTo>
                    <a:pt x="23513" y="446997"/>
                    <a:pt x="15374" y="443626"/>
                    <a:pt x="9373" y="437625"/>
                  </a:cubicBezTo>
                  <a:cubicBezTo>
                    <a:pt x="3371" y="431623"/>
                    <a:pt x="0" y="423484"/>
                    <a:pt x="0" y="414997"/>
                  </a:cubicBezTo>
                  <a:lnTo>
                    <a:pt x="0" y="32000"/>
                  </a:lnTo>
                  <a:cubicBezTo>
                    <a:pt x="0" y="23513"/>
                    <a:pt x="3371" y="15374"/>
                    <a:pt x="9373" y="9373"/>
                  </a:cubicBezTo>
                  <a:cubicBezTo>
                    <a:pt x="15374" y="3371"/>
                    <a:pt x="23513" y="0"/>
                    <a:pt x="32000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62847" cy="5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카카오맵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정식 출시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32160" y="6700841"/>
            <a:ext cx="2903178" cy="1949739"/>
            <a:chOff x="0" y="0"/>
            <a:chExt cx="762847" cy="5123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2847" cy="512319"/>
            </a:xfrm>
            <a:custGeom>
              <a:avLst/>
              <a:gdLst/>
              <a:ahLst/>
              <a:cxnLst/>
              <a:rect r="r" b="b" t="t" l="l"/>
              <a:pathLst>
                <a:path h="512319" w="762847">
                  <a:moveTo>
                    <a:pt x="32000" y="0"/>
                  </a:moveTo>
                  <a:lnTo>
                    <a:pt x="730847" y="0"/>
                  </a:lnTo>
                  <a:cubicBezTo>
                    <a:pt x="739334" y="0"/>
                    <a:pt x="747474" y="3371"/>
                    <a:pt x="753475" y="9373"/>
                  </a:cubicBezTo>
                  <a:cubicBezTo>
                    <a:pt x="759476" y="15374"/>
                    <a:pt x="762847" y="23513"/>
                    <a:pt x="762847" y="32000"/>
                  </a:cubicBezTo>
                  <a:lnTo>
                    <a:pt x="762847" y="480319"/>
                  </a:lnTo>
                  <a:cubicBezTo>
                    <a:pt x="762847" y="488806"/>
                    <a:pt x="759476" y="496945"/>
                    <a:pt x="753475" y="502946"/>
                  </a:cubicBezTo>
                  <a:cubicBezTo>
                    <a:pt x="747474" y="508948"/>
                    <a:pt x="739334" y="512319"/>
                    <a:pt x="730847" y="512319"/>
                  </a:cubicBezTo>
                  <a:lnTo>
                    <a:pt x="32000" y="512319"/>
                  </a:lnTo>
                  <a:cubicBezTo>
                    <a:pt x="23513" y="512319"/>
                    <a:pt x="15374" y="508948"/>
                    <a:pt x="9373" y="502946"/>
                  </a:cubicBezTo>
                  <a:cubicBezTo>
                    <a:pt x="3371" y="496945"/>
                    <a:pt x="0" y="488806"/>
                    <a:pt x="0" y="480319"/>
                  </a:cubicBezTo>
                  <a:lnTo>
                    <a:pt x="0" y="32000"/>
                  </a:lnTo>
                  <a:cubicBezTo>
                    <a:pt x="0" y="23513"/>
                    <a:pt x="3371" y="15374"/>
                    <a:pt x="9373" y="9373"/>
                  </a:cubicBezTo>
                  <a:cubicBezTo>
                    <a:pt x="15374" y="3371"/>
                    <a:pt x="23513" y="0"/>
                    <a:pt x="320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62847" cy="559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기존의 DAUM Map을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대체하는 새로운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지도 서비스 출시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flipV="true">
            <a:off x="6029899" y="4117276"/>
            <a:ext cx="0" cy="1221211"/>
          </a:xfrm>
          <a:prstGeom prst="line">
            <a:avLst/>
          </a:prstGeom>
          <a:ln cap="flat" w="28575">
            <a:solidFill>
              <a:srgbClr val="48584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4565597" y="3409268"/>
            <a:ext cx="2900030" cy="863735"/>
            <a:chOff x="0" y="0"/>
            <a:chExt cx="2345246" cy="698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45246" cy="698500"/>
            </a:xfrm>
            <a:custGeom>
              <a:avLst/>
              <a:gdLst/>
              <a:ahLst/>
              <a:cxnLst/>
              <a:rect r="r" b="b" t="t" l="l"/>
              <a:pathLst>
                <a:path h="698500" w="2345246">
                  <a:moveTo>
                    <a:pt x="2345246" y="349250"/>
                  </a:moveTo>
                  <a:lnTo>
                    <a:pt x="21420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142046" y="0"/>
                  </a:lnTo>
                  <a:lnTo>
                    <a:pt x="2345246" y="349250"/>
                  </a:lnTo>
                  <a:close/>
                </a:path>
              </a:pathLst>
            </a:custGeom>
            <a:solidFill>
              <a:srgbClr val="A9B87D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114300" y="-47625"/>
              <a:ext cx="21166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2017년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563433" y="4860104"/>
            <a:ext cx="2900030" cy="1701143"/>
            <a:chOff x="0" y="0"/>
            <a:chExt cx="762020" cy="44699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2020" cy="446997"/>
            </a:xfrm>
            <a:custGeom>
              <a:avLst/>
              <a:gdLst/>
              <a:ahLst/>
              <a:cxnLst/>
              <a:rect r="r" b="b" t="t" l="l"/>
              <a:pathLst>
                <a:path h="446997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762020" cy="5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카카오 내비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기능 업데이트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565597" y="6700841"/>
            <a:ext cx="2900030" cy="1949739"/>
            <a:chOff x="0" y="0"/>
            <a:chExt cx="762020" cy="51231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2020" cy="512319"/>
            </a:xfrm>
            <a:custGeom>
              <a:avLst/>
              <a:gdLst/>
              <a:ahLst/>
              <a:cxnLst/>
              <a:rect r="r" b="b" t="t" l="l"/>
              <a:pathLst>
                <a:path h="512319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80284"/>
                  </a:lnTo>
                  <a:cubicBezTo>
                    <a:pt x="762020" y="497977"/>
                    <a:pt x="747678" y="512319"/>
                    <a:pt x="729985" y="512319"/>
                  </a:cubicBezTo>
                  <a:lnTo>
                    <a:pt x="32035" y="512319"/>
                  </a:lnTo>
                  <a:cubicBezTo>
                    <a:pt x="14343" y="512319"/>
                    <a:pt x="0" y="497977"/>
                    <a:pt x="0" y="480284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62020" cy="559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장소 공유 → 내비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바로 실행하는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기능 추가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flipV="true">
            <a:off x="9156314" y="4117276"/>
            <a:ext cx="0" cy="1221211"/>
          </a:xfrm>
          <a:prstGeom prst="line">
            <a:avLst/>
          </a:prstGeom>
          <a:ln cap="flat" w="28575">
            <a:solidFill>
              <a:srgbClr val="48584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7704135" y="3409268"/>
            <a:ext cx="2904357" cy="863735"/>
            <a:chOff x="0" y="0"/>
            <a:chExt cx="2348746" cy="6985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48746" cy="698500"/>
            </a:xfrm>
            <a:custGeom>
              <a:avLst/>
              <a:gdLst/>
              <a:ahLst/>
              <a:cxnLst/>
              <a:rect r="r" b="b" t="t" l="l"/>
              <a:pathLst>
                <a:path h="698500" w="2348746">
                  <a:moveTo>
                    <a:pt x="2348746" y="349250"/>
                  </a:moveTo>
                  <a:lnTo>
                    <a:pt x="21455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145546" y="0"/>
                  </a:lnTo>
                  <a:lnTo>
                    <a:pt x="2348746" y="349250"/>
                  </a:lnTo>
                  <a:close/>
                </a:path>
              </a:pathLst>
            </a:custGeom>
            <a:solidFill>
              <a:srgbClr val="85B38B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114300" y="-47625"/>
              <a:ext cx="21201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2018 ~ 2020년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694226" y="4860104"/>
            <a:ext cx="2900030" cy="1701143"/>
            <a:chOff x="0" y="0"/>
            <a:chExt cx="762020" cy="44699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2020" cy="446997"/>
            </a:xfrm>
            <a:custGeom>
              <a:avLst/>
              <a:gdLst/>
              <a:ahLst/>
              <a:cxnLst/>
              <a:rect r="r" b="b" t="t" l="l"/>
              <a:pathLst>
                <a:path h="446997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762020" cy="5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카카오톡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공유 최적화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696390" y="6700841"/>
            <a:ext cx="2900030" cy="1949739"/>
            <a:chOff x="0" y="0"/>
            <a:chExt cx="762020" cy="51231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62020" cy="512319"/>
            </a:xfrm>
            <a:custGeom>
              <a:avLst/>
              <a:gdLst/>
              <a:ahLst/>
              <a:cxnLst/>
              <a:rect r="r" b="b" t="t" l="l"/>
              <a:pathLst>
                <a:path h="512319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80284"/>
                  </a:lnTo>
                  <a:cubicBezTo>
                    <a:pt x="762020" y="497977"/>
                    <a:pt x="747678" y="512319"/>
                    <a:pt x="729985" y="512319"/>
                  </a:cubicBezTo>
                  <a:lnTo>
                    <a:pt x="32035" y="512319"/>
                  </a:lnTo>
                  <a:cubicBezTo>
                    <a:pt x="14343" y="512319"/>
                    <a:pt x="0" y="497977"/>
                    <a:pt x="0" y="480284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762020" cy="559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위치 공유, 약속 장소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설정 기능 추가 /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POI 데이터 확장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flipV="true">
            <a:off x="12277198" y="4117276"/>
            <a:ext cx="0" cy="1221211"/>
          </a:xfrm>
          <a:prstGeom prst="line">
            <a:avLst/>
          </a:prstGeom>
          <a:ln cap="flat" w="28575">
            <a:solidFill>
              <a:srgbClr val="48584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10846617" y="3409268"/>
            <a:ext cx="2900030" cy="863735"/>
            <a:chOff x="0" y="0"/>
            <a:chExt cx="2345246" cy="6985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345246" cy="698500"/>
            </a:xfrm>
            <a:custGeom>
              <a:avLst/>
              <a:gdLst/>
              <a:ahLst/>
              <a:cxnLst/>
              <a:rect r="r" b="b" t="t" l="l"/>
              <a:pathLst>
                <a:path h="698500" w="2345246">
                  <a:moveTo>
                    <a:pt x="2345246" y="349250"/>
                  </a:moveTo>
                  <a:lnTo>
                    <a:pt x="21420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142046" y="0"/>
                  </a:lnTo>
                  <a:lnTo>
                    <a:pt x="2345246" y="349250"/>
                  </a:lnTo>
                  <a:close/>
                </a:path>
              </a:pathLst>
            </a:custGeom>
            <a:solidFill>
              <a:srgbClr val="A9B87D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114300" y="-47625"/>
              <a:ext cx="21166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2022년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825020" y="4860104"/>
            <a:ext cx="2900030" cy="1701143"/>
            <a:chOff x="0" y="0"/>
            <a:chExt cx="762020" cy="44699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62020" cy="446997"/>
            </a:xfrm>
            <a:custGeom>
              <a:avLst/>
              <a:gdLst/>
              <a:ahLst/>
              <a:cxnLst/>
              <a:rect r="r" b="b" t="t" l="l"/>
              <a:pathLst>
                <a:path h="446997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762020" cy="5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AI 기반 길찾기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기능 추가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827183" y="6700841"/>
            <a:ext cx="2900030" cy="1949739"/>
            <a:chOff x="0" y="0"/>
            <a:chExt cx="762020" cy="51231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62020" cy="512319"/>
            </a:xfrm>
            <a:custGeom>
              <a:avLst/>
              <a:gdLst/>
              <a:ahLst/>
              <a:cxnLst/>
              <a:rect r="r" b="b" t="t" l="l"/>
              <a:pathLst>
                <a:path h="512319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80284"/>
                  </a:lnTo>
                  <a:cubicBezTo>
                    <a:pt x="762020" y="497977"/>
                    <a:pt x="747678" y="512319"/>
                    <a:pt x="729985" y="512319"/>
                  </a:cubicBezTo>
                  <a:lnTo>
                    <a:pt x="32035" y="512319"/>
                  </a:lnTo>
                  <a:cubicBezTo>
                    <a:pt x="14343" y="512319"/>
                    <a:pt x="0" y="497977"/>
                    <a:pt x="0" y="480284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762020" cy="559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교통량 예측,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추천 경로 개선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957976" y="6700841"/>
            <a:ext cx="2900030" cy="1949739"/>
            <a:chOff x="0" y="0"/>
            <a:chExt cx="762020" cy="51231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62020" cy="512319"/>
            </a:xfrm>
            <a:custGeom>
              <a:avLst/>
              <a:gdLst/>
              <a:ahLst/>
              <a:cxnLst/>
              <a:rect r="r" b="b" t="t" l="l"/>
              <a:pathLst>
                <a:path h="512319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80284"/>
                  </a:lnTo>
                  <a:cubicBezTo>
                    <a:pt x="762020" y="497977"/>
                    <a:pt x="747678" y="512319"/>
                    <a:pt x="729985" y="512319"/>
                  </a:cubicBezTo>
                  <a:lnTo>
                    <a:pt x="32035" y="512319"/>
                  </a:lnTo>
                  <a:cubicBezTo>
                    <a:pt x="14343" y="512319"/>
                    <a:pt x="0" y="497977"/>
                    <a:pt x="0" y="480284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762020" cy="559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사용자 행동 기반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추천 알고리즘 적용,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AR 기반 길안내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테스트 진행중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 flipV="true">
            <a:off x="15420874" y="4117276"/>
            <a:ext cx="0" cy="1221211"/>
          </a:xfrm>
          <a:prstGeom prst="line">
            <a:avLst/>
          </a:prstGeom>
          <a:ln cap="flat" w="28575">
            <a:solidFill>
              <a:srgbClr val="48584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6" id="66"/>
          <p:cNvGrpSpPr/>
          <p:nvPr/>
        </p:nvGrpSpPr>
        <p:grpSpPr>
          <a:xfrm rot="0">
            <a:off x="13955813" y="4860104"/>
            <a:ext cx="2900030" cy="1701143"/>
            <a:chOff x="0" y="0"/>
            <a:chExt cx="762020" cy="44699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2020" cy="446997"/>
            </a:xfrm>
            <a:custGeom>
              <a:avLst/>
              <a:gdLst/>
              <a:ahLst/>
              <a:cxnLst/>
              <a:rect r="r" b="b" t="t" l="l"/>
              <a:pathLst>
                <a:path h="446997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762020" cy="5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AI 기반 장소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추천 실험 단계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957976" y="3409268"/>
            <a:ext cx="2900030" cy="863735"/>
            <a:chOff x="0" y="0"/>
            <a:chExt cx="2345246" cy="6985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345246" cy="698500"/>
            </a:xfrm>
            <a:custGeom>
              <a:avLst/>
              <a:gdLst/>
              <a:ahLst/>
              <a:cxnLst/>
              <a:rect r="r" b="b" t="t" l="l"/>
              <a:pathLst>
                <a:path h="698500" w="2345246">
                  <a:moveTo>
                    <a:pt x="2345246" y="349250"/>
                  </a:moveTo>
                  <a:lnTo>
                    <a:pt x="21420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142046" y="0"/>
                  </a:lnTo>
                  <a:lnTo>
                    <a:pt x="2345246" y="349250"/>
                  </a:lnTo>
                  <a:close/>
                </a:path>
              </a:pathLst>
            </a:custGeom>
            <a:solidFill>
              <a:srgbClr val="85B38B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114300" y="-47625"/>
              <a:ext cx="21166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A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2024년 ~ 현재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041627" y="1388861"/>
            <a:ext cx="7898846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그룹별 사용 목적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03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724273" y="5118712"/>
            <a:ext cx="10391522" cy="1701143"/>
            <a:chOff x="0" y="0"/>
            <a:chExt cx="2730507" cy="4469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30507" cy="446997"/>
            </a:xfrm>
            <a:custGeom>
              <a:avLst/>
              <a:gdLst/>
              <a:ahLst/>
              <a:cxnLst/>
              <a:rect r="r" b="b" t="t" l="l"/>
              <a:pathLst>
                <a:path h="446997" w="2730507">
                  <a:moveTo>
                    <a:pt x="0" y="0"/>
                  </a:moveTo>
                  <a:lnTo>
                    <a:pt x="2730507" y="0"/>
                  </a:lnTo>
                  <a:lnTo>
                    <a:pt x="2730507" y="446997"/>
                  </a:lnTo>
                  <a:lnTo>
                    <a:pt x="0" y="44699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730507" cy="49462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079"/>
                </a:lnSpc>
              </a:pPr>
              <a:r>
                <a:rPr lang="en-US" sz="2199" b="true">
                  <a:solidFill>
                    <a:srgbClr val="485849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실시간 교통 → 최적 경로 선택, 내비 연동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24244" y="5118712"/>
            <a:ext cx="2903178" cy="1701143"/>
            <a:chOff x="0" y="0"/>
            <a:chExt cx="762847" cy="4469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2847" cy="446997"/>
            </a:xfrm>
            <a:custGeom>
              <a:avLst/>
              <a:gdLst/>
              <a:ahLst/>
              <a:cxnLst/>
              <a:rect r="r" b="b" t="t" l="l"/>
              <a:pathLst>
                <a:path h="446997" w="762847">
                  <a:moveTo>
                    <a:pt x="0" y="0"/>
                  </a:moveTo>
                  <a:lnTo>
                    <a:pt x="762847" y="0"/>
                  </a:lnTo>
                  <a:lnTo>
                    <a:pt x="762847" y="446997"/>
                  </a:lnTo>
                  <a:lnTo>
                    <a:pt x="0" y="446997"/>
                  </a:ln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762847" cy="5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운전자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724273" y="3417569"/>
            <a:ext cx="10391522" cy="1701143"/>
            <a:chOff x="0" y="0"/>
            <a:chExt cx="2730507" cy="4469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30507" cy="446997"/>
            </a:xfrm>
            <a:custGeom>
              <a:avLst/>
              <a:gdLst/>
              <a:ahLst/>
              <a:cxnLst/>
              <a:rect r="r" b="b" t="t" l="l"/>
              <a:pathLst>
                <a:path h="446997" w="2730507">
                  <a:moveTo>
                    <a:pt x="0" y="0"/>
                  </a:moveTo>
                  <a:lnTo>
                    <a:pt x="2730507" y="0"/>
                  </a:lnTo>
                  <a:lnTo>
                    <a:pt x="2730507" y="446997"/>
                  </a:lnTo>
                  <a:lnTo>
                    <a:pt x="0" y="44699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730507" cy="49462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079"/>
                </a:lnSpc>
              </a:pPr>
              <a:r>
                <a:rPr lang="en-US" sz="2199" b="true">
                  <a:solidFill>
                    <a:srgbClr val="485849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장소 검색(카페, 맛집, 병원 등), 리뷰 확인, 길찾기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824244" y="3417569"/>
            <a:ext cx="2903178" cy="1701143"/>
            <a:chOff x="0" y="0"/>
            <a:chExt cx="762847" cy="4469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2847" cy="446997"/>
            </a:xfrm>
            <a:custGeom>
              <a:avLst/>
              <a:gdLst/>
              <a:ahLst/>
              <a:cxnLst/>
              <a:rect r="r" b="b" t="t" l="l"/>
              <a:pathLst>
                <a:path h="446997" w="762847">
                  <a:moveTo>
                    <a:pt x="0" y="0"/>
                  </a:moveTo>
                  <a:lnTo>
                    <a:pt x="762847" y="0"/>
                  </a:lnTo>
                  <a:lnTo>
                    <a:pt x="762847" y="446997"/>
                  </a:lnTo>
                  <a:lnTo>
                    <a:pt x="0" y="446997"/>
                  </a:ln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762847" cy="5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일반 사용자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724273" y="6812711"/>
            <a:ext cx="10391522" cy="1701143"/>
            <a:chOff x="0" y="0"/>
            <a:chExt cx="2730507" cy="44699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30507" cy="446997"/>
            </a:xfrm>
            <a:custGeom>
              <a:avLst/>
              <a:gdLst/>
              <a:ahLst/>
              <a:cxnLst/>
              <a:rect r="r" b="b" t="t" l="l"/>
              <a:pathLst>
                <a:path h="446997" w="2730507">
                  <a:moveTo>
                    <a:pt x="0" y="0"/>
                  </a:moveTo>
                  <a:lnTo>
                    <a:pt x="2730507" y="0"/>
                  </a:lnTo>
                  <a:lnTo>
                    <a:pt x="2730507" y="446997"/>
                  </a:lnTo>
                  <a:lnTo>
                    <a:pt x="0" y="44699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2730507" cy="49462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079"/>
                </a:lnSpc>
              </a:pPr>
              <a:r>
                <a:rPr lang="en-US" sz="2199" b="true">
                  <a:solidFill>
                    <a:srgbClr val="485849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매장 정보 등록 / 수정, 위치 노출을 통한 홍보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824244" y="6812711"/>
            <a:ext cx="2903178" cy="1701143"/>
            <a:chOff x="0" y="0"/>
            <a:chExt cx="762847" cy="44699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2847" cy="446997"/>
            </a:xfrm>
            <a:custGeom>
              <a:avLst/>
              <a:gdLst/>
              <a:ahLst/>
              <a:cxnLst/>
              <a:rect r="r" b="b" t="t" l="l"/>
              <a:pathLst>
                <a:path h="446997" w="762847">
                  <a:moveTo>
                    <a:pt x="0" y="0"/>
                  </a:moveTo>
                  <a:lnTo>
                    <a:pt x="762847" y="0"/>
                  </a:lnTo>
                  <a:lnTo>
                    <a:pt x="762847" y="446997"/>
                  </a:lnTo>
                  <a:lnTo>
                    <a:pt x="0" y="446997"/>
                  </a:ln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762847" cy="5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소상공인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041627" y="1388861"/>
            <a:ext cx="734959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작동 방식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26798" y="2812073"/>
            <a:ext cx="15034405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사용 목적이 명확함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     </a:t>
            </a: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- 빠르고 정확한 위치 찾기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     - 리뷰 기반으로 신뢰할 수 있는 장소 선택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     - 카카오톡으로 공유하여 약속 장소를 전달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주요 검색의 패턴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     </a:t>
            </a: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- “가까운 곳”, “리뷰 많은 곳”, “지금 영업중인 곳”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검색 의도에 맞는 필터와 정렬 기능 제공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041627" y="1388861"/>
            <a:ext cx="7898846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데이터 구성요소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22669" y="2881373"/>
            <a:ext cx="1503440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카카오맵 데이터 구조는 3가지로 구성됩니다.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8832454"/>
            <a:ext cx="6510784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주기적으로 수집, 갱신되어 최신 상태를 유지합니다.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834686" y="4117064"/>
            <a:ext cx="4956628" cy="1277465"/>
            <a:chOff x="0" y="0"/>
            <a:chExt cx="6608838" cy="1703287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184402"/>
              <a:ext cx="6457765" cy="1518885"/>
              <a:chOff x="0" y="0"/>
              <a:chExt cx="971712" cy="22854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71712" cy="228549"/>
              </a:xfrm>
              <a:custGeom>
                <a:avLst/>
                <a:gdLst/>
                <a:ahLst/>
                <a:cxnLst/>
                <a:rect r="r" b="b" t="t" l="l"/>
                <a:pathLst>
                  <a:path h="228549" w="971712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971712" cy="2761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8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51072" y="0"/>
              <a:ext cx="6457765" cy="1518885"/>
              <a:chOff x="0" y="0"/>
              <a:chExt cx="971712" cy="22854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71712" cy="228549"/>
              </a:xfrm>
              <a:custGeom>
                <a:avLst/>
                <a:gdLst/>
                <a:ahLst/>
                <a:cxnLst/>
                <a:rect r="r" b="b" t="t" l="l"/>
                <a:pathLst>
                  <a:path h="228549" w="971712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B1CCB4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971712" cy="2761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80"/>
                  </a:lnSpc>
                </a:pPr>
              </a:p>
            </p:txBody>
          </p:sp>
        </p:grpSp>
      </p:grpSp>
      <p:sp>
        <p:nvSpPr>
          <p:cNvPr name="TextBox 30" id="30"/>
          <p:cNvSpPr txBox="true"/>
          <p:nvPr/>
        </p:nvSpPr>
        <p:spPr>
          <a:xfrm rot="0">
            <a:off x="2730839" y="4431597"/>
            <a:ext cx="316432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지도 데이터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241841" y="5823287"/>
            <a:ext cx="343972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업데이트 및 개선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66476" y="4485889"/>
            <a:ext cx="6232543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도로망, 주소, 건물, 행정구역 데이터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66476" y="5877579"/>
            <a:ext cx="6505364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매장 정보, 메뉴, 영업시간, 전화번호 등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766476" y="7242115"/>
            <a:ext cx="6232543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리뷰, 별점, 사진, 즐겨찾기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834686" y="5513002"/>
            <a:ext cx="4956628" cy="1277465"/>
            <a:chOff x="0" y="0"/>
            <a:chExt cx="6608838" cy="1703287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184402"/>
              <a:ext cx="6457765" cy="1518885"/>
              <a:chOff x="0" y="0"/>
              <a:chExt cx="971712" cy="22854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71712" cy="228549"/>
              </a:xfrm>
              <a:custGeom>
                <a:avLst/>
                <a:gdLst/>
                <a:ahLst/>
                <a:cxnLst/>
                <a:rect r="r" b="b" t="t" l="l"/>
                <a:pathLst>
                  <a:path h="228549" w="971712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971712" cy="2761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80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51072" y="0"/>
              <a:ext cx="6457765" cy="1518885"/>
              <a:chOff x="0" y="0"/>
              <a:chExt cx="971712" cy="22854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71712" cy="228549"/>
              </a:xfrm>
              <a:custGeom>
                <a:avLst/>
                <a:gdLst/>
                <a:ahLst/>
                <a:cxnLst/>
                <a:rect r="r" b="b" t="t" l="l"/>
                <a:pathLst>
                  <a:path h="228549" w="971712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85B38B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971712" cy="2761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80"/>
                  </a:lnSpc>
                </a:pPr>
              </a:p>
            </p:txBody>
          </p:sp>
        </p:grpSp>
      </p:grpSp>
      <p:sp>
        <p:nvSpPr>
          <p:cNvPr name="TextBox 42" id="42"/>
          <p:cNvSpPr txBox="true"/>
          <p:nvPr/>
        </p:nvSpPr>
        <p:spPr>
          <a:xfrm rot="0">
            <a:off x="2730839" y="5823287"/>
            <a:ext cx="316432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장소 데이터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822669" y="6904767"/>
            <a:ext cx="4956628" cy="1277465"/>
            <a:chOff x="0" y="0"/>
            <a:chExt cx="6608838" cy="1703287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184402"/>
              <a:ext cx="6457765" cy="1518885"/>
              <a:chOff x="0" y="0"/>
              <a:chExt cx="971712" cy="228549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971712" cy="228549"/>
              </a:xfrm>
              <a:custGeom>
                <a:avLst/>
                <a:gdLst/>
                <a:ahLst/>
                <a:cxnLst/>
                <a:rect r="r" b="b" t="t" l="l"/>
                <a:pathLst>
                  <a:path h="228549" w="971712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47625"/>
                <a:ext cx="971712" cy="2761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80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151072" y="0"/>
              <a:ext cx="6457765" cy="1518885"/>
              <a:chOff x="0" y="0"/>
              <a:chExt cx="971712" cy="228549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971712" cy="228549"/>
              </a:xfrm>
              <a:custGeom>
                <a:avLst/>
                <a:gdLst/>
                <a:ahLst/>
                <a:cxnLst/>
                <a:rect r="r" b="b" t="t" l="l"/>
                <a:pathLst>
                  <a:path h="228549" w="971712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0E7658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47625"/>
                <a:ext cx="971712" cy="2761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80"/>
                  </a:lnSpc>
                </a:pPr>
              </a:p>
            </p:txBody>
          </p:sp>
        </p:grpSp>
      </p:grpSp>
      <p:sp>
        <p:nvSpPr>
          <p:cNvPr name="TextBox 50" id="50"/>
          <p:cNvSpPr txBox="true"/>
          <p:nvPr/>
        </p:nvSpPr>
        <p:spPr>
          <a:xfrm rot="0">
            <a:off x="2730839" y="7187822"/>
            <a:ext cx="316432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사용자 생성 데이터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041627" y="1388861"/>
            <a:ext cx="734959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작동 원리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22669" y="2812073"/>
            <a:ext cx="15034405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검색 프로세스 흐름</a:t>
            </a: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사용자가 장소 또는 키워드를 입력</a:t>
            </a: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사전에 색인된 장소 DB에서 검색</a:t>
            </a: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연관도, 거리, 리뷰 수 등을 기반으로 정렬하여 제공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색인 방식의 특징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장소 이름, 업종, 메뉴 키워드, 위치 데이터 등이 인덱스로 저장됨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검색 속도와 정확성을 높이기 위한 데이터 최적화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041627" y="1388861"/>
            <a:ext cx="7898846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주요 기능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07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822669" y="3079057"/>
            <a:ext cx="13291552" cy="5800631"/>
            <a:chOff x="0" y="0"/>
            <a:chExt cx="17722069" cy="773417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3866706" y="1549438"/>
              <a:ext cx="13855363" cy="1549438"/>
              <a:chOff x="0" y="0"/>
              <a:chExt cx="2730507" cy="30535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730507" cy="305351"/>
              </a:xfrm>
              <a:custGeom>
                <a:avLst/>
                <a:gdLst/>
                <a:ahLst/>
                <a:cxnLst/>
                <a:rect r="r" b="b" t="t" l="l"/>
                <a:pathLst>
                  <a:path h="305351" w="2730507">
                    <a:moveTo>
                      <a:pt x="0" y="0"/>
                    </a:moveTo>
                    <a:lnTo>
                      <a:pt x="2730507" y="0"/>
                    </a:lnTo>
                    <a:lnTo>
                      <a:pt x="2730507" y="305351"/>
                    </a:lnTo>
                    <a:lnTo>
                      <a:pt x="0" y="30535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2730507" cy="352976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3079"/>
                  </a:lnSpc>
                </a:pPr>
                <a:r>
                  <a:rPr lang="en-US" sz="2199" b="true">
                    <a:solidFill>
                      <a:srgbClr val="485849"/>
                    </a:solidFill>
                    <a:latin typeface="TDTD순고딕 Bold"/>
                    <a:ea typeface="TDTD순고딕 Bold"/>
                    <a:cs typeface="TDTD순고딕 Bold"/>
                    <a:sym typeface="TDTD순고딕 Bold"/>
                  </a:rPr>
                  <a:t>건물 외형, 지형 구조를 위에서 확인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1549438"/>
              <a:ext cx="3870904" cy="1549438"/>
              <a:chOff x="0" y="0"/>
              <a:chExt cx="762847" cy="30535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62847" cy="305351"/>
              </a:xfrm>
              <a:custGeom>
                <a:avLst/>
                <a:gdLst/>
                <a:ahLst/>
                <a:cxnLst/>
                <a:rect r="r" b="b" t="t" l="l"/>
                <a:pathLst>
                  <a:path h="305351" w="762847">
                    <a:moveTo>
                      <a:pt x="0" y="0"/>
                    </a:moveTo>
                    <a:lnTo>
                      <a:pt x="762847" y="0"/>
                    </a:lnTo>
                    <a:lnTo>
                      <a:pt x="762847" y="305351"/>
                    </a:lnTo>
                    <a:lnTo>
                      <a:pt x="0" y="305351"/>
                    </a:lnTo>
                    <a:close/>
                  </a:path>
                </a:pathLst>
              </a:custGeom>
              <a:solidFill>
                <a:srgbClr val="E3F0E5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762847" cy="3625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485849"/>
                    </a:solidFill>
                    <a:latin typeface="Tlab 레트로라이프"/>
                    <a:ea typeface="Tlab 레트로라이프"/>
                    <a:cs typeface="Tlab 레트로라이프"/>
                    <a:sym typeface="Tlab 레트로라이프"/>
                  </a:rPr>
                  <a:t>스카이뷰, 항공뷰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3866706" y="0"/>
              <a:ext cx="13855363" cy="1549438"/>
              <a:chOff x="0" y="0"/>
              <a:chExt cx="2730507" cy="30535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730507" cy="305351"/>
              </a:xfrm>
              <a:custGeom>
                <a:avLst/>
                <a:gdLst/>
                <a:ahLst/>
                <a:cxnLst/>
                <a:rect r="r" b="b" t="t" l="l"/>
                <a:pathLst>
                  <a:path h="305351" w="2730507">
                    <a:moveTo>
                      <a:pt x="0" y="0"/>
                    </a:moveTo>
                    <a:lnTo>
                      <a:pt x="2730507" y="0"/>
                    </a:lnTo>
                    <a:lnTo>
                      <a:pt x="2730507" y="305351"/>
                    </a:lnTo>
                    <a:lnTo>
                      <a:pt x="0" y="30535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2730507" cy="352976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3079"/>
                  </a:lnSpc>
                </a:pPr>
                <a:r>
                  <a:rPr lang="en-US" sz="2199" b="true">
                    <a:solidFill>
                      <a:srgbClr val="485849"/>
                    </a:solidFill>
                    <a:latin typeface="TDTD순고딕 Bold"/>
                    <a:ea typeface="TDTD순고딕 Bold"/>
                    <a:cs typeface="TDTD순고딕 Bold"/>
                    <a:sym typeface="TDTD순고딕 Bold"/>
                  </a:rPr>
                  <a:t>실제 거리 사진 기반으로 주변 환경 확인 가능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0"/>
              <a:ext cx="3870904" cy="1549438"/>
              <a:chOff x="0" y="0"/>
              <a:chExt cx="762847" cy="305351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762847" cy="305351"/>
              </a:xfrm>
              <a:custGeom>
                <a:avLst/>
                <a:gdLst/>
                <a:ahLst/>
                <a:cxnLst/>
                <a:rect r="r" b="b" t="t" l="l"/>
                <a:pathLst>
                  <a:path h="305351" w="762847">
                    <a:moveTo>
                      <a:pt x="0" y="0"/>
                    </a:moveTo>
                    <a:lnTo>
                      <a:pt x="762847" y="0"/>
                    </a:lnTo>
                    <a:lnTo>
                      <a:pt x="762847" y="305351"/>
                    </a:lnTo>
                    <a:lnTo>
                      <a:pt x="0" y="305351"/>
                    </a:lnTo>
                    <a:close/>
                  </a:path>
                </a:pathLst>
              </a:custGeom>
              <a:solidFill>
                <a:srgbClr val="E3F0E5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762847" cy="3625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485849"/>
                    </a:solidFill>
                    <a:latin typeface="Tlab 레트로라이프"/>
                    <a:ea typeface="Tlab 레트로라이프"/>
                    <a:cs typeface="Tlab 레트로라이프"/>
                    <a:sym typeface="Tlab 레트로라이프"/>
                  </a:rPr>
                  <a:t>로드뷰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3866706" y="3092368"/>
              <a:ext cx="13855363" cy="1549438"/>
              <a:chOff x="0" y="0"/>
              <a:chExt cx="2730507" cy="30535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730507" cy="305351"/>
              </a:xfrm>
              <a:custGeom>
                <a:avLst/>
                <a:gdLst/>
                <a:ahLst/>
                <a:cxnLst/>
                <a:rect r="r" b="b" t="t" l="l"/>
                <a:pathLst>
                  <a:path h="305351" w="2730507">
                    <a:moveTo>
                      <a:pt x="0" y="0"/>
                    </a:moveTo>
                    <a:lnTo>
                      <a:pt x="2730507" y="0"/>
                    </a:lnTo>
                    <a:lnTo>
                      <a:pt x="2730507" y="305351"/>
                    </a:lnTo>
                    <a:lnTo>
                      <a:pt x="0" y="30535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2730507" cy="352976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3079"/>
                  </a:lnSpc>
                </a:pPr>
                <a:r>
                  <a:rPr lang="en-US" sz="2199" b="true">
                    <a:solidFill>
                      <a:srgbClr val="485849"/>
                    </a:solidFill>
                    <a:latin typeface="TDTD순고딕 Bold"/>
                    <a:ea typeface="TDTD순고딕 Bold"/>
                    <a:cs typeface="TDTD순고딕 Bold"/>
                    <a:sym typeface="TDTD순고딕 Bold"/>
                  </a:rPr>
                  <a:t>카카오내비 데이터 기반 실시간 도로 정보 제공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3092368"/>
              <a:ext cx="3870904" cy="1549438"/>
              <a:chOff x="0" y="0"/>
              <a:chExt cx="762847" cy="305351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762847" cy="305351"/>
              </a:xfrm>
              <a:custGeom>
                <a:avLst/>
                <a:gdLst/>
                <a:ahLst/>
                <a:cxnLst/>
                <a:rect r="r" b="b" t="t" l="l"/>
                <a:pathLst>
                  <a:path h="305351" w="762847">
                    <a:moveTo>
                      <a:pt x="0" y="0"/>
                    </a:moveTo>
                    <a:lnTo>
                      <a:pt x="762847" y="0"/>
                    </a:lnTo>
                    <a:lnTo>
                      <a:pt x="762847" y="305351"/>
                    </a:lnTo>
                    <a:lnTo>
                      <a:pt x="0" y="305351"/>
                    </a:lnTo>
                    <a:close/>
                  </a:path>
                </a:pathLst>
              </a:custGeom>
              <a:solidFill>
                <a:srgbClr val="E3F0E5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57150"/>
                <a:ext cx="762847" cy="3625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485849"/>
                    </a:solidFill>
                    <a:latin typeface="Tlab 레트로라이프"/>
                    <a:ea typeface="Tlab 레트로라이프"/>
                    <a:cs typeface="Tlab 레트로라이프"/>
                    <a:sym typeface="Tlab 레트로라이프"/>
                  </a:rPr>
                  <a:t>실시간 교통 상황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3866706" y="4641806"/>
              <a:ext cx="13855363" cy="1549438"/>
              <a:chOff x="0" y="0"/>
              <a:chExt cx="2730507" cy="305351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730507" cy="305351"/>
              </a:xfrm>
              <a:custGeom>
                <a:avLst/>
                <a:gdLst/>
                <a:ahLst/>
                <a:cxnLst/>
                <a:rect r="r" b="b" t="t" l="l"/>
                <a:pathLst>
                  <a:path h="305351" w="2730507">
                    <a:moveTo>
                      <a:pt x="0" y="0"/>
                    </a:moveTo>
                    <a:lnTo>
                      <a:pt x="2730507" y="0"/>
                    </a:lnTo>
                    <a:lnTo>
                      <a:pt x="2730507" y="305351"/>
                    </a:lnTo>
                    <a:lnTo>
                      <a:pt x="0" y="30535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2730507" cy="352976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3079"/>
                  </a:lnSpc>
                </a:pPr>
                <a:r>
                  <a:rPr lang="en-US" sz="2199" b="true">
                    <a:solidFill>
                      <a:srgbClr val="485849"/>
                    </a:solidFill>
                    <a:latin typeface="TDTD순고딕 Bold"/>
                    <a:ea typeface="TDTD순고딕 Bold"/>
                    <a:cs typeface="TDTD순고딕 Bold"/>
                    <a:sym typeface="TDTD순고딕 Bold"/>
                  </a:rPr>
                  <a:t>장소 즐겨찾기, 리스트로 관리 가능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4641806"/>
              <a:ext cx="3870904" cy="1549438"/>
              <a:chOff x="0" y="0"/>
              <a:chExt cx="762847" cy="305351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762847" cy="305351"/>
              </a:xfrm>
              <a:custGeom>
                <a:avLst/>
                <a:gdLst/>
                <a:ahLst/>
                <a:cxnLst/>
                <a:rect r="r" b="b" t="t" l="l"/>
                <a:pathLst>
                  <a:path h="305351" w="762847">
                    <a:moveTo>
                      <a:pt x="0" y="0"/>
                    </a:moveTo>
                    <a:lnTo>
                      <a:pt x="762847" y="0"/>
                    </a:lnTo>
                    <a:lnTo>
                      <a:pt x="762847" y="305351"/>
                    </a:lnTo>
                    <a:lnTo>
                      <a:pt x="0" y="305351"/>
                    </a:lnTo>
                    <a:close/>
                  </a:path>
                </a:pathLst>
              </a:custGeom>
              <a:solidFill>
                <a:srgbClr val="E3F0E5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57150"/>
                <a:ext cx="762847" cy="3625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485849"/>
                    </a:solidFill>
                    <a:latin typeface="Tlab 레트로라이프"/>
                    <a:ea typeface="Tlab 레트로라이프"/>
                    <a:cs typeface="Tlab 레트로라이프"/>
                    <a:sym typeface="Tlab 레트로라이프"/>
                  </a:rPr>
                  <a:t>장소 검색 및 저장</a:t>
                </a: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3866706" y="6184737"/>
              <a:ext cx="13855363" cy="1549438"/>
              <a:chOff x="0" y="0"/>
              <a:chExt cx="2730507" cy="305351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730507" cy="305351"/>
              </a:xfrm>
              <a:custGeom>
                <a:avLst/>
                <a:gdLst/>
                <a:ahLst/>
                <a:cxnLst/>
                <a:rect r="r" b="b" t="t" l="l"/>
                <a:pathLst>
                  <a:path h="305351" w="2730507">
                    <a:moveTo>
                      <a:pt x="0" y="0"/>
                    </a:moveTo>
                    <a:lnTo>
                      <a:pt x="2730507" y="0"/>
                    </a:lnTo>
                    <a:lnTo>
                      <a:pt x="2730507" y="305351"/>
                    </a:lnTo>
                    <a:lnTo>
                      <a:pt x="0" y="30535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47625"/>
                <a:ext cx="2730507" cy="352976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3079"/>
                  </a:lnSpc>
                </a:pPr>
                <a:r>
                  <a:rPr lang="en-US" sz="2199" b="true">
                    <a:solidFill>
                      <a:srgbClr val="485849"/>
                    </a:solidFill>
                    <a:latin typeface="TDTD순고딕 Bold"/>
                    <a:ea typeface="TDTD순고딕 Bold"/>
                    <a:cs typeface="TDTD순고딕 Bold"/>
                    <a:sym typeface="TDTD순고딕 Bold"/>
                  </a:rPr>
                  <a:t>지도 / 장소를 채팅방에 즉시 공유 가능</a:t>
                </a: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6184737"/>
              <a:ext cx="3870904" cy="1549438"/>
              <a:chOff x="0" y="0"/>
              <a:chExt cx="762847" cy="305351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762847" cy="305351"/>
              </a:xfrm>
              <a:custGeom>
                <a:avLst/>
                <a:gdLst/>
                <a:ahLst/>
                <a:cxnLst/>
                <a:rect r="r" b="b" t="t" l="l"/>
                <a:pathLst>
                  <a:path h="305351" w="762847">
                    <a:moveTo>
                      <a:pt x="0" y="0"/>
                    </a:moveTo>
                    <a:lnTo>
                      <a:pt x="762847" y="0"/>
                    </a:lnTo>
                    <a:lnTo>
                      <a:pt x="762847" y="305351"/>
                    </a:lnTo>
                    <a:lnTo>
                      <a:pt x="0" y="305351"/>
                    </a:lnTo>
                    <a:close/>
                  </a:path>
                </a:pathLst>
              </a:custGeom>
              <a:solidFill>
                <a:srgbClr val="E3F0E5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57150"/>
                <a:ext cx="762847" cy="3625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485849"/>
                    </a:solidFill>
                    <a:latin typeface="Tlab 레트로라이프"/>
                    <a:ea typeface="Tlab 레트로라이프"/>
                    <a:cs typeface="Tlab 레트로라이프"/>
                    <a:sym typeface="Tlab 레트로라이프"/>
                  </a:rPr>
                  <a:t>카카오톡 공유</a:t>
                </a: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041627" y="1388861"/>
            <a:ext cx="734959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장단점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22669" y="2812073"/>
            <a:ext cx="15034405" cy="559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장점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직관적이고 조작이 쉬움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카카오톡 공유 → 카카오내비 길찾기로 연결이 쉬움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카카오내비의 교통량 데이터를 활용하여 실시간 교통 정보 전달 가능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로드뷰, 스카이뷰, 항공뷰로 길찾기나 위치 확인에 도움을 줌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단점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국내 기업이라 해외 지도 데이터가 부족, 사용이 제한적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리뷰 및 장소 정보의 양이 네이버 지도보다 부족함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업데이트 반영 속도가 느린 경우가 있음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304346" y="2812073"/>
            <a:ext cx="13679308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AI 기반 맞춤 장소 추천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- 사용자 행동 데이터를 기반으로 한 ‘맞춤 동선 추천’ 시스템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AR 기반 길찾기 기능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- 현실 화면에 화살표를 표시하여 길 안내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교통 혼잡 예측 모델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- </a:t>
            </a:r>
            <a:r>
              <a:rPr lang="en-US" sz="3200">
                <a:solidFill>
                  <a:srgbClr val="628566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날씨, 시간대, 과거 데이터를 기반으로 혼잡함을 예측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822669" y="2869223"/>
            <a:ext cx="418699" cy="398811"/>
          </a:xfrm>
          <a:custGeom>
            <a:avLst/>
            <a:gdLst/>
            <a:ahLst/>
            <a:cxnLst/>
            <a:rect r="r" b="b" t="t" l="l"/>
            <a:pathLst>
              <a:path h="398811" w="418699">
                <a:moveTo>
                  <a:pt x="0" y="0"/>
                </a:moveTo>
                <a:lnTo>
                  <a:pt x="418699" y="0"/>
                </a:lnTo>
                <a:lnTo>
                  <a:pt x="418699" y="398810"/>
                </a:lnTo>
                <a:lnTo>
                  <a:pt x="0" y="398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041627" y="1388861"/>
            <a:ext cx="734959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AI 확장 방향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09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822669" y="4563138"/>
            <a:ext cx="418699" cy="398811"/>
          </a:xfrm>
          <a:custGeom>
            <a:avLst/>
            <a:gdLst/>
            <a:ahLst/>
            <a:cxnLst/>
            <a:rect r="r" b="b" t="t" l="l"/>
            <a:pathLst>
              <a:path h="398811" w="418699">
                <a:moveTo>
                  <a:pt x="0" y="0"/>
                </a:moveTo>
                <a:lnTo>
                  <a:pt x="418699" y="0"/>
                </a:lnTo>
                <a:lnTo>
                  <a:pt x="418699" y="398810"/>
                </a:lnTo>
                <a:lnTo>
                  <a:pt x="0" y="398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822669" y="6257348"/>
            <a:ext cx="418699" cy="398811"/>
          </a:xfrm>
          <a:custGeom>
            <a:avLst/>
            <a:gdLst/>
            <a:ahLst/>
            <a:cxnLst/>
            <a:rect r="r" b="b" t="t" l="l"/>
            <a:pathLst>
              <a:path h="398811" w="418699">
                <a:moveTo>
                  <a:pt x="0" y="0"/>
                </a:moveTo>
                <a:lnTo>
                  <a:pt x="418699" y="0"/>
                </a:lnTo>
                <a:lnTo>
                  <a:pt x="418699" y="398811"/>
                </a:lnTo>
                <a:lnTo>
                  <a:pt x="0" y="3988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448299" y="5400961"/>
            <a:ext cx="5107197" cy="3097319"/>
            <a:chOff x="0" y="0"/>
            <a:chExt cx="6809596" cy="4129758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809596" cy="4129758"/>
              <a:chOff x="0" y="0"/>
              <a:chExt cx="1345105" cy="81575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345105" cy="815755"/>
              </a:xfrm>
              <a:custGeom>
                <a:avLst/>
                <a:gdLst/>
                <a:ahLst/>
                <a:cxnLst/>
                <a:rect r="r" b="b" t="t" l="l"/>
                <a:pathLst>
                  <a:path h="815755" w="1345105">
                    <a:moveTo>
                      <a:pt x="33349" y="0"/>
                    </a:moveTo>
                    <a:lnTo>
                      <a:pt x="1311756" y="0"/>
                    </a:lnTo>
                    <a:cubicBezTo>
                      <a:pt x="1330174" y="0"/>
                      <a:pt x="1345105" y="14931"/>
                      <a:pt x="1345105" y="33349"/>
                    </a:cubicBezTo>
                    <a:lnTo>
                      <a:pt x="1345105" y="782405"/>
                    </a:lnTo>
                    <a:cubicBezTo>
                      <a:pt x="1345105" y="791250"/>
                      <a:pt x="1341592" y="799733"/>
                      <a:pt x="1335338" y="805987"/>
                    </a:cubicBezTo>
                    <a:cubicBezTo>
                      <a:pt x="1329083" y="812241"/>
                      <a:pt x="1320601" y="815755"/>
                      <a:pt x="1311756" y="815755"/>
                    </a:cubicBezTo>
                    <a:lnTo>
                      <a:pt x="33349" y="815755"/>
                    </a:lnTo>
                    <a:cubicBezTo>
                      <a:pt x="14931" y="815755"/>
                      <a:pt x="0" y="800824"/>
                      <a:pt x="0" y="782405"/>
                    </a:cubicBezTo>
                    <a:lnTo>
                      <a:pt x="0" y="33349"/>
                    </a:lnTo>
                    <a:cubicBezTo>
                      <a:pt x="0" y="14931"/>
                      <a:pt x="14931" y="0"/>
                      <a:pt x="333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85849"/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1345105" cy="863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AutoShape 23" id="23"/>
            <p:cNvSpPr/>
            <p:nvPr/>
          </p:nvSpPr>
          <p:spPr>
            <a:xfrm>
              <a:off x="14907" y="1152271"/>
              <a:ext cx="6794688" cy="0"/>
            </a:xfrm>
            <a:prstGeom prst="line">
              <a:avLst/>
            </a:prstGeom>
            <a:ln cap="flat" w="25400">
              <a:solidFill>
                <a:srgbClr val="485849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198008" y="5400961"/>
            <a:ext cx="5146046" cy="3097319"/>
            <a:chOff x="0" y="0"/>
            <a:chExt cx="6861395" cy="4129758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861395" cy="4129758"/>
              <a:chOff x="0" y="0"/>
              <a:chExt cx="1355337" cy="81575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355337" cy="815755"/>
              </a:xfrm>
              <a:custGeom>
                <a:avLst/>
                <a:gdLst/>
                <a:ahLst/>
                <a:cxnLst/>
                <a:rect r="r" b="b" t="t" l="l"/>
                <a:pathLst>
                  <a:path h="815755" w="1355337">
                    <a:moveTo>
                      <a:pt x="33098" y="0"/>
                    </a:moveTo>
                    <a:lnTo>
                      <a:pt x="1322240" y="0"/>
                    </a:lnTo>
                    <a:cubicBezTo>
                      <a:pt x="1340519" y="0"/>
                      <a:pt x="1355337" y="14818"/>
                      <a:pt x="1355337" y="33098"/>
                    </a:cubicBezTo>
                    <a:lnTo>
                      <a:pt x="1355337" y="782657"/>
                    </a:lnTo>
                    <a:cubicBezTo>
                      <a:pt x="1355337" y="791435"/>
                      <a:pt x="1351850" y="799854"/>
                      <a:pt x="1345643" y="806061"/>
                    </a:cubicBezTo>
                    <a:cubicBezTo>
                      <a:pt x="1339436" y="812268"/>
                      <a:pt x="1331018" y="815755"/>
                      <a:pt x="1322240" y="815755"/>
                    </a:cubicBezTo>
                    <a:lnTo>
                      <a:pt x="33098" y="815755"/>
                    </a:lnTo>
                    <a:cubicBezTo>
                      <a:pt x="24320" y="815755"/>
                      <a:pt x="15901" y="812268"/>
                      <a:pt x="9694" y="806061"/>
                    </a:cubicBezTo>
                    <a:cubicBezTo>
                      <a:pt x="3487" y="799854"/>
                      <a:pt x="0" y="791435"/>
                      <a:pt x="0" y="782657"/>
                    </a:cubicBezTo>
                    <a:lnTo>
                      <a:pt x="0" y="33098"/>
                    </a:lnTo>
                    <a:cubicBezTo>
                      <a:pt x="0" y="24320"/>
                      <a:pt x="3487" y="15901"/>
                      <a:pt x="9694" y="9694"/>
                    </a:cubicBezTo>
                    <a:cubicBezTo>
                      <a:pt x="15901" y="3487"/>
                      <a:pt x="24320" y="0"/>
                      <a:pt x="330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85849"/>
                </a:soli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1355337" cy="863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AutoShape 28" id="28"/>
            <p:cNvSpPr/>
            <p:nvPr/>
          </p:nvSpPr>
          <p:spPr>
            <a:xfrm>
              <a:off x="66707" y="1164971"/>
              <a:ext cx="6794688" cy="0"/>
            </a:xfrm>
            <a:prstGeom prst="line">
              <a:avLst/>
            </a:prstGeom>
            <a:ln cap="flat" w="25400">
              <a:solidFill>
                <a:srgbClr val="48584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4239802" y="1410881"/>
            <a:ext cx="1065391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시행착오 및 해결방안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10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5190949" y="3624025"/>
            <a:ext cx="1608070" cy="1555442"/>
          </a:xfrm>
          <a:custGeom>
            <a:avLst/>
            <a:gdLst/>
            <a:ahLst/>
            <a:cxnLst/>
            <a:rect r="r" b="b" t="t" l="l"/>
            <a:pathLst>
              <a:path h="1555442" w="1608070">
                <a:moveTo>
                  <a:pt x="0" y="0"/>
                </a:moveTo>
                <a:lnTo>
                  <a:pt x="1608070" y="0"/>
                </a:lnTo>
                <a:lnTo>
                  <a:pt x="1608070" y="1555442"/>
                </a:lnTo>
                <a:lnTo>
                  <a:pt x="0" y="1555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146533" y="3772167"/>
            <a:ext cx="1299027" cy="1371333"/>
          </a:xfrm>
          <a:custGeom>
            <a:avLst/>
            <a:gdLst/>
            <a:ahLst/>
            <a:cxnLst/>
            <a:rect r="r" b="b" t="t" l="l"/>
            <a:pathLst>
              <a:path h="1371333" w="1299027">
                <a:moveTo>
                  <a:pt x="0" y="0"/>
                </a:moveTo>
                <a:lnTo>
                  <a:pt x="1299027" y="0"/>
                </a:lnTo>
                <a:lnTo>
                  <a:pt x="1299027" y="1371333"/>
                </a:lnTo>
                <a:lnTo>
                  <a:pt x="0" y="13713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585914" y="5535700"/>
            <a:ext cx="242026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628566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해결방안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870789" y="6469150"/>
            <a:ext cx="424839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데이터 최신성 지연</a:t>
            </a:r>
          </a:p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POI 오류, 중복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45326" y="6412000"/>
            <a:ext cx="4248390" cy="180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629"/>
              </a:lnSpc>
              <a:buFont typeface="Arial"/>
              <a:buChar char="•"/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자동 크롤러, API 기반 데이터 수집 파이프라인 구축</a:t>
            </a:r>
          </a:p>
          <a:p>
            <a:pPr algn="l" marL="474979" indent="-237490" lvl="1">
              <a:lnSpc>
                <a:spcPts val="3629"/>
              </a:lnSpc>
              <a:buFont typeface="Arial"/>
              <a:buChar char="•"/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크라우드소싱과 자동 병합 알고리즘 도입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791766" y="5535700"/>
            <a:ext cx="242026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628566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시행착오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436402" y="4096729"/>
            <a:ext cx="6941403" cy="155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41"/>
              </a:lnSpc>
            </a:pPr>
            <a:r>
              <a:rPr lang="en-US" sz="9100">
                <a:solidFill>
                  <a:srgbClr val="8CB791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DAG4RdopEzI</dc:identifier>
  <dcterms:modified xsi:type="dcterms:W3CDTF">2011-08-01T06:04:30Z</dcterms:modified>
  <cp:revision>1</cp:revision>
  <dc:title>정보검색과인공지능 발표자료</dc:title>
</cp:coreProperties>
</file>